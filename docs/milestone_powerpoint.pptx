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5" r:id="rId4"/>
    <p:sldId id="259" r:id="rId5"/>
    <p:sldId id="258" r:id="rId6"/>
    <p:sldId id="266" r:id="rId7"/>
    <p:sldId id="267" r:id="rId8"/>
    <p:sldId id="268" r:id="rId9"/>
    <p:sldId id="269" r:id="rId10"/>
    <p:sldId id="262" r:id="rId11"/>
    <p:sldId id="271" r:id="rId12"/>
    <p:sldId id="273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88C5BD-3BB5-1CF3-53CB-435D02CB8928}" v="14" dt="2025-11-18T12:31:54.746"/>
    <p1510:client id="{6ACB2633-153F-116B-9703-29B43BEB8926}" v="32" dt="2025-11-18T13:43:23.889"/>
    <p1510:client id="{7F7E26A3-D11A-2F3D-C1DB-8736AAD5ACA0}" v="1755" dt="2025-11-18T02:45:31.855"/>
    <p1510:client id="{C538B97C-F288-FC20-E1E7-4CE923CD160F}" v="975" dt="2025-11-18T04:41:02.736"/>
    <p1510:client id="{CB85662F-A355-F4BE-17F6-F8F15835AD05}" v="8" dt="2025-11-18T00:51:44.376"/>
    <p1510:client id="{D8E5840E-408D-66D3-C0FD-F9E1F8CD25B6}" v="110" dt="2025-11-18T00:02:54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meyjm7/llm-preference-unlearning" TargetMode="External"/><Relationship Id="rId2" Type="http://schemas.openxmlformats.org/officeDocument/2006/relationships/hyperlink" Target="https://hub.docker.com/repository/docker/rameyjm7/llm-preference-unlearning/genera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hyperlink" Target="https://github.com/Thekicker35/Trustworthy-Machine-Learning-Final-Project/tree/mai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2.09317" TargetMode="External"/><Relationship Id="rId13" Type="http://schemas.openxmlformats.org/officeDocument/2006/relationships/hyperlink" Target="https://arxiv.org/abs/2408.09671" TargetMode="External"/><Relationship Id="rId18" Type="http://schemas.openxmlformats.org/officeDocument/2006/relationships/hyperlink" Target="https://doi.org/10.1007/s11280-024-01291-2" TargetMode="External"/><Relationship Id="rId3" Type="http://schemas.openxmlformats.org/officeDocument/2006/relationships/hyperlink" Target="https://arxiv.org/abs/2402.08728" TargetMode="External"/><Relationship Id="rId7" Type="http://schemas.openxmlformats.org/officeDocument/2006/relationships/hyperlink" Target="https://arxiv.org/abs/2503.05821" TargetMode="External"/><Relationship Id="rId12" Type="http://schemas.openxmlformats.org/officeDocument/2006/relationships/hyperlink" Target="https://arxiv.org/abs/2311.17082" TargetMode="External"/><Relationship Id="rId17" Type="http://schemas.openxmlformats.org/officeDocument/2006/relationships/hyperlink" Target="https://doi.org/10.1145/3726302.3730003" TargetMode="External"/><Relationship Id="rId2" Type="http://schemas.openxmlformats.org/officeDocument/2006/relationships/hyperlink" Target="https://arxiv.org/abs/2403.04783" TargetMode="External"/><Relationship Id="rId16" Type="http://schemas.openxmlformats.org/officeDocument/2006/relationships/hyperlink" Target="https://arxiv.org/abs/2410.05939" TargetMode="External"/><Relationship Id="rId20" Type="http://schemas.openxmlformats.org/officeDocument/2006/relationships/hyperlink" Target="https://arxiv.org/abs/2501.0554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altodoc.aalto.fi/items/68d19d5f-3e81-463a-93d8-9bdb52cfcf98" TargetMode="External"/><Relationship Id="rId11" Type="http://schemas.openxmlformats.org/officeDocument/2006/relationships/hyperlink" Target="https://arxiv.org/abs/2408.08949" TargetMode="External"/><Relationship Id="rId5" Type="http://schemas.openxmlformats.org/officeDocument/2006/relationships/hyperlink" Target="https://arxiv.org/abs/1911.04933" TargetMode="External"/><Relationship Id="rId15" Type="http://schemas.openxmlformats.org/officeDocument/2006/relationships/hyperlink" Target="https://arxiv.org/abs/2502.10050" TargetMode="External"/><Relationship Id="rId10" Type="http://schemas.openxmlformats.org/officeDocument/2006/relationships/hyperlink" Target="https://arxiv.org/abs/2501.01234" TargetMode="External"/><Relationship Id="rId19" Type="http://schemas.openxmlformats.org/officeDocument/2006/relationships/hyperlink" Target="https://doi.org/10.1145/3689217.3690621" TargetMode="External"/><Relationship Id="rId4" Type="http://schemas.openxmlformats.org/officeDocument/2006/relationships/hyperlink" Target="https://arxiv.org/abs/2303.07345" TargetMode="External"/><Relationship Id="rId9" Type="http://schemas.openxmlformats.org/officeDocument/2006/relationships/hyperlink" Target="https://doi.org/10.1145/3637528.3671931" TargetMode="External"/><Relationship Id="rId14" Type="http://schemas.openxmlformats.org/officeDocument/2006/relationships/hyperlink" Target="https://doi.org/10.1145/3726302.37302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3683" y="1599502"/>
            <a:ext cx="9877513" cy="1461807"/>
          </a:xfrm>
        </p:spPr>
        <p:txBody>
          <a:bodyPr>
            <a:noAutofit/>
          </a:bodyPr>
          <a:lstStyle/>
          <a:p>
            <a:r>
              <a:rPr lang="en-US" sz="4400" b="1">
                <a:latin typeface="Aptos Display"/>
                <a:cs typeface="Times New Roman"/>
              </a:rPr>
              <a:t>Activation-Level Preference Unlearning for Robust LLM Recommenders</a:t>
            </a:r>
            <a:endParaRPr lang="en-US" sz="4400">
              <a:latin typeface="Aptos Display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8366" y="3569841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b="1">
                <a:latin typeface="Aptos Display"/>
                <a:cs typeface="Times New Roman"/>
              </a:rPr>
              <a:t>Final Project Presentation</a:t>
            </a:r>
            <a:endParaRPr lang="en-US">
              <a:latin typeface="Aptos Display"/>
              <a:cs typeface="Times New Roman"/>
            </a:endParaRPr>
          </a:p>
          <a:p>
            <a:pPr>
              <a:spcBef>
                <a:spcPct val="0"/>
              </a:spcBef>
            </a:pPr>
            <a:r>
              <a:rPr lang="en-US" sz="1800" b="1">
                <a:latin typeface="Aptos Display"/>
                <a:cs typeface="Times New Roman"/>
              </a:rPr>
              <a:t>ECE6514 Trustworthy Machine Learning | Fall 2025</a:t>
            </a:r>
            <a:br>
              <a:rPr lang="en-US" sz="1800" b="1">
                <a:latin typeface="Aptos Display"/>
                <a:cs typeface="Times New Roman"/>
              </a:rPr>
            </a:br>
            <a:endParaRPr lang="en-US" sz="1800">
              <a:latin typeface="Aptos Display"/>
              <a:cs typeface="Times New Roman"/>
            </a:endParaRPr>
          </a:p>
          <a:p>
            <a:pPr>
              <a:spcBef>
                <a:spcPct val="0"/>
              </a:spcBef>
            </a:pPr>
            <a:r>
              <a:rPr lang="en-US" sz="1800" b="1">
                <a:latin typeface="Aptos Display"/>
                <a:cs typeface="Times New Roman"/>
              </a:rPr>
              <a:t>Team Members:</a:t>
            </a:r>
            <a:r>
              <a:rPr lang="en-US" sz="1800">
                <a:latin typeface="Aptos Display"/>
                <a:cs typeface="Times New Roman"/>
              </a:rPr>
              <a:t> Mack Werner, Gary Ruppert, Chuan Liu, Jacob Ramey*</a:t>
            </a:r>
          </a:p>
          <a:p>
            <a:pPr algn="r"/>
            <a:r>
              <a:rPr lang="en-US" sz="1600">
                <a:latin typeface="Aptos Display"/>
                <a:cs typeface="Times New Roman"/>
              </a:rPr>
              <a:t>*Equal Contributors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5955-738D-6DED-341A-27B0DE0F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21DA-F8CE-F79B-389D-674B9620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2D7B-B93B-7E5E-253A-4CD849AAC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684"/>
            <a:ext cx="5301130" cy="42990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LLM recommenders often give different answers for prompts that mean the same thing</a:t>
            </a:r>
          </a:p>
          <a:p>
            <a:r>
              <a:rPr lang="en-US"/>
              <a:t>Small</a:t>
            </a:r>
            <a:r>
              <a:rPr lang="en-US">
                <a:ea typeface="+mn-lt"/>
                <a:cs typeface="+mn-lt"/>
              </a:rPr>
              <a:t> prompt changes → large output shifts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7A969-BD28-945D-DA3E-0370B0F22929}"/>
              </a:ext>
            </a:extLst>
          </p:cNvPr>
          <p:cNvSpPr/>
          <p:nvPr/>
        </p:nvSpPr>
        <p:spPr>
          <a:xfrm>
            <a:off x="6215529" y="1807882"/>
            <a:ext cx="2345764" cy="97864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"What movie should I watch?"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5EC624-63D3-6C07-22D5-4F05344BB452}"/>
              </a:ext>
            </a:extLst>
          </p:cNvPr>
          <p:cNvSpPr/>
          <p:nvPr/>
        </p:nvSpPr>
        <p:spPr>
          <a:xfrm>
            <a:off x="8755529" y="1807881"/>
            <a:ext cx="2345764" cy="97864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"Any movie recommendations?"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E3DA74-4240-F752-B684-214869C1C047}"/>
              </a:ext>
            </a:extLst>
          </p:cNvPr>
          <p:cNvSpPr/>
          <p:nvPr/>
        </p:nvSpPr>
        <p:spPr>
          <a:xfrm>
            <a:off x="6215529" y="3197410"/>
            <a:ext cx="4885763" cy="575237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59171C-3177-D6B4-EAF5-254CA8B27006}"/>
              </a:ext>
            </a:extLst>
          </p:cNvPr>
          <p:cNvSpPr/>
          <p:nvPr/>
        </p:nvSpPr>
        <p:spPr>
          <a:xfrm>
            <a:off x="6215529" y="4220882"/>
            <a:ext cx="2345764" cy="97864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Inception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64D53B-A2FA-A9E9-9AF7-D4957AEBE2F4}"/>
              </a:ext>
            </a:extLst>
          </p:cNvPr>
          <p:cNvSpPr/>
          <p:nvPr/>
        </p:nvSpPr>
        <p:spPr>
          <a:xfrm>
            <a:off x="8755529" y="4220882"/>
            <a:ext cx="2345764" cy="97864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The Matrix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F69520-A078-AA2F-9124-CCEFE0CB49E8}"/>
              </a:ext>
            </a:extLst>
          </p:cNvPr>
          <p:cNvCxnSpPr/>
          <p:nvPr/>
        </p:nvCxnSpPr>
        <p:spPr>
          <a:xfrm>
            <a:off x="7387563" y="2790072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C47751-28DF-B38E-AEBC-FAE7AD114DC8}"/>
              </a:ext>
            </a:extLst>
          </p:cNvPr>
          <p:cNvCxnSpPr>
            <a:cxnSpLocks/>
          </p:cNvCxnSpPr>
          <p:nvPr/>
        </p:nvCxnSpPr>
        <p:spPr>
          <a:xfrm>
            <a:off x="9927563" y="2790072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01058-AE39-45C5-57A0-88E3FCA563D0}"/>
              </a:ext>
            </a:extLst>
          </p:cNvPr>
          <p:cNvCxnSpPr>
            <a:cxnSpLocks/>
          </p:cNvCxnSpPr>
          <p:nvPr/>
        </p:nvCxnSpPr>
        <p:spPr>
          <a:xfrm>
            <a:off x="7380092" y="3761248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5E9421-EDF0-DBDF-0C68-36B7C823B490}"/>
              </a:ext>
            </a:extLst>
          </p:cNvPr>
          <p:cNvCxnSpPr>
            <a:cxnSpLocks/>
          </p:cNvCxnSpPr>
          <p:nvPr/>
        </p:nvCxnSpPr>
        <p:spPr>
          <a:xfrm>
            <a:off x="9920092" y="3761248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13A7179B-5115-D51A-3F56-1611C70A0C1B}"/>
              </a:ext>
            </a:extLst>
          </p:cNvPr>
          <p:cNvSpPr txBox="1">
            <a:spLocks/>
          </p:cNvSpPr>
          <p:nvPr/>
        </p:nvSpPr>
        <p:spPr>
          <a:xfrm>
            <a:off x="6683187" y="5492937"/>
            <a:ext cx="5286189" cy="989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i="1"/>
              <a:t>Similar prompt, </a:t>
            </a:r>
            <a:r>
              <a:rPr lang="en-US" sz="2800" b="1" i="1">
                <a:solidFill>
                  <a:srgbClr val="C00000"/>
                </a:solidFill>
              </a:rPr>
              <a:t>different </a:t>
            </a:r>
            <a:r>
              <a:rPr lang="en-US" sz="2800" b="1" i="1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40073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3D24-8563-EF83-201B-93BEE532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0A46-5CDD-106E-6B20-B244017F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</a:t>
            </a:r>
            <a:r>
              <a:rPr lang="en-US" i="1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1DBC-517D-138D-E4D2-AD79E6DD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684"/>
            <a:ext cx="9768541" cy="43289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Goal</a:t>
            </a:r>
            <a:r>
              <a:rPr lang="en-US"/>
              <a:t>: Make recommendations </a:t>
            </a:r>
            <a:r>
              <a:rPr lang="en-US" i="1"/>
              <a:t>trustworthy </a:t>
            </a:r>
            <a:r>
              <a:rPr lang="en-US"/>
              <a:t>and </a:t>
            </a:r>
            <a:r>
              <a:rPr lang="en-US" i="1"/>
              <a:t>consistent.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581EA0-4018-A38F-2EBB-5B5E9DC247CD}"/>
              </a:ext>
            </a:extLst>
          </p:cNvPr>
          <p:cNvSpPr/>
          <p:nvPr/>
        </p:nvSpPr>
        <p:spPr>
          <a:xfrm>
            <a:off x="3630705" y="2540000"/>
            <a:ext cx="2345764" cy="97864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"What movie should I watch?"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9074A5-9338-C20C-8ED0-3069556B08DF}"/>
              </a:ext>
            </a:extLst>
          </p:cNvPr>
          <p:cNvSpPr/>
          <p:nvPr/>
        </p:nvSpPr>
        <p:spPr>
          <a:xfrm>
            <a:off x="6170705" y="2539999"/>
            <a:ext cx="2345764" cy="97864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"Any movie recommendations?"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86899C-9895-62F3-6F68-9613621CE54E}"/>
              </a:ext>
            </a:extLst>
          </p:cNvPr>
          <p:cNvSpPr/>
          <p:nvPr/>
        </p:nvSpPr>
        <p:spPr>
          <a:xfrm>
            <a:off x="3630705" y="3929528"/>
            <a:ext cx="4885763" cy="575237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LLM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328187-E9E3-C030-CAF2-AF5D4E320FBC}"/>
              </a:ext>
            </a:extLst>
          </p:cNvPr>
          <p:cNvSpPr/>
          <p:nvPr/>
        </p:nvSpPr>
        <p:spPr>
          <a:xfrm>
            <a:off x="4898331" y="5038458"/>
            <a:ext cx="2345764" cy="97864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Inception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DBEA49-1170-ABE3-22EC-3A22E31FA7C6}"/>
              </a:ext>
            </a:extLst>
          </p:cNvPr>
          <p:cNvCxnSpPr/>
          <p:nvPr/>
        </p:nvCxnSpPr>
        <p:spPr>
          <a:xfrm>
            <a:off x="4802739" y="3522190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AF1711-C7EA-C205-DF62-425AF9B18207}"/>
              </a:ext>
            </a:extLst>
          </p:cNvPr>
          <p:cNvCxnSpPr>
            <a:cxnSpLocks/>
          </p:cNvCxnSpPr>
          <p:nvPr/>
        </p:nvCxnSpPr>
        <p:spPr>
          <a:xfrm>
            <a:off x="7342739" y="3522190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2595F0-97CD-E7CE-EE90-6B38EC5A2DF5}"/>
              </a:ext>
            </a:extLst>
          </p:cNvPr>
          <p:cNvCxnSpPr>
            <a:cxnSpLocks/>
          </p:cNvCxnSpPr>
          <p:nvPr/>
        </p:nvCxnSpPr>
        <p:spPr>
          <a:xfrm>
            <a:off x="6053399" y="4493366"/>
            <a:ext cx="1" cy="360361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18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729B-DD5D-280C-3B5B-02F494DA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7678-B057-AE3C-9712-3E94116F7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AutoNum type="arabicPeriod"/>
            </a:pPr>
            <a:r>
              <a:rPr lang="en-US"/>
              <a:t>Prompt-perturbation experiments</a:t>
            </a:r>
          </a:p>
          <a:p>
            <a:pPr>
              <a:buAutoNum type="arabicPeriod"/>
            </a:pPr>
            <a:r>
              <a:rPr lang="en-US"/>
              <a:t>Activation extraction &amp; saliency maps</a:t>
            </a:r>
          </a:p>
          <a:p>
            <a:pPr>
              <a:buAutoNum type="arabicPeriod"/>
            </a:pPr>
            <a:r>
              <a:rPr lang="en-US"/>
              <a:t>Identify sensitive neurons/heads</a:t>
            </a:r>
          </a:p>
          <a:p>
            <a:pPr>
              <a:buAutoNum type="arabicPeriod"/>
            </a:pPr>
            <a:r>
              <a:rPr lang="en-US"/>
              <a:t>Apply selective dampening or gradient projection</a:t>
            </a:r>
          </a:p>
          <a:p>
            <a:pPr>
              <a:buAutoNum type="arabicPeriod"/>
            </a:pPr>
            <a:r>
              <a:rPr lang="en-US"/>
              <a:t>Re-evaluate drift reduction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18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653C2-C269-1591-BD6D-08ECE27A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66" y="414271"/>
            <a:ext cx="7499225" cy="698279"/>
          </a:xfrm>
        </p:spPr>
        <p:txBody>
          <a:bodyPr anchor="b">
            <a:normAutofit/>
          </a:bodyPr>
          <a:lstStyle/>
          <a:p>
            <a:r>
              <a:rPr lang="en-US" sz="4000"/>
              <a:t>ARC Environment Setup / </a:t>
            </a:r>
            <a:r>
              <a:rPr lang="en-US" sz="4000" err="1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06E2C-044B-000B-DF57-791B1F3E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695" y="1375793"/>
            <a:ext cx="4280343" cy="42693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/>
              <a:t>Tinkercliffs</a:t>
            </a:r>
            <a:r>
              <a:rPr lang="en-US" sz="2000"/>
              <a:t> : A100_normal_q partition</a:t>
            </a:r>
          </a:p>
          <a:p>
            <a:r>
              <a:rPr lang="en-US" sz="2000"/>
              <a:t>8 CPUs / 1 GPU / 64GB Memory</a:t>
            </a:r>
          </a:p>
          <a:p>
            <a:r>
              <a:rPr lang="en-US" sz="2000"/>
              <a:t>Docker image running via </a:t>
            </a:r>
            <a:r>
              <a:rPr lang="en-US" sz="2000" err="1"/>
              <a:t>apptainer</a:t>
            </a:r>
            <a:r>
              <a:rPr lang="en-US" sz="2000"/>
              <a:t> on ARC </a:t>
            </a:r>
            <a:br>
              <a:rPr lang="en-US" sz="2000"/>
            </a:br>
            <a:r>
              <a:rPr lang="en-US" sz="2000">
                <a:ea typeface="+mn-lt"/>
                <a:cs typeface="+mn-lt"/>
                <a:hlinkClick r:id="rId2"/>
              </a:rPr>
              <a:t>rameyjm7/llm-preference-unlearning | Docker Hub</a:t>
            </a:r>
            <a:endParaRPr lang="en-US" sz="2000">
              <a:ea typeface="+mn-lt"/>
              <a:cs typeface="+mn-lt"/>
            </a:endParaRPr>
          </a:p>
          <a:p>
            <a:r>
              <a:rPr lang="en-US" sz="2000" dirty="0" err="1"/>
              <a:t>Github</a:t>
            </a:r>
            <a:r>
              <a:rPr lang="en-US" sz="2000"/>
              <a:t> Repo: </a:t>
            </a:r>
            <a:r>
              <a:rPr lang="en-US" sz="1900">
                <a:hlinkClick r:id="rId3"/>
              </a:rPr>
              <a:t>rameyjm7/llm-preference-unlearning</a:t>
            </a:r>
            <a:endParaRPr lang="en-US" sz="1900"/>
          </a:p>
          <a:p>
            <a:r>
              <a:rPr lang="en-US" sz="1900" err="1"/>
              <a:t>Github</a:t>
            </a:r>
            <a:r>
              <a:rPr lang="en-US" sz="1900"/>
              <a:t> Repo 2:</a:t>
            </a:r>
            <a:r>
              <a:rPr lang="en-US" sz="1900" dirty="0">
                <a:ea typeface="+mn-lt"/>
                <a:cs typeface="+mn-lt"/>
              </a:rPr>
              <a:t> </a:t>
            </a:r>
            <a:r>
              <a:rPr lang="en-US" sz="1900" dirty="0">
                <a:ea typeface="+mn-lt"/>
                <a:cs typeface="+mn-lt"/>
                <a:hlinkClick r:id="rId4"/>
              </a:rPr>
              <a:t>https://github.com/Thekicker35/Trustworthy-Machine-Learning-Final-Project/tree/main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Docker Logo, symbol, meaning, history, PNG, brand">
            <a:extLst>
              <a:ext uri="{FF2B5EF4-FFF2-40B4-BE49-F238E27FC236}">
                <a16:creationId xmlns:a16="http://schemas.microsoft.com/office/drawing/2014/main" id="{94619F93-A430-A8AB-8A29-2D76D2E46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9766" y="860197"/>
            <a:ext cx="3712869" cy="2088488"/>
          </a:xfrm>
          <a:prstGeom prst="rect">
            <a:avLst/>
          </a:prstGeom>
        </p:spPr>
      </p:pic>
      <p:pic>
        <p:nvPicPr>
          <p:cNvPr id="6" name="Picture 5" descr="Jupyter Logo - LogoDix">
            <a:extLst>
              <a:ext uri="{FF2B5EF4-FFF2-40B4-BE49-F238E27FC236}">
                <a16:creationId xmlns:a16="http://schemas.microsoft.com/office/drawing/2014/main" id="{995504F2-C8B6-7451-5731-C9FEE1A44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213" y="3375824"/>
            <a:ext cx="2243263" cy="224326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1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185FD-7379-7E57-CFBE-CF2A92E6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E859E6A-0543-605A-9CA6-38B435A5B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3FC97-DC6C-0406-B4C8-F4ED951A9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931" y="435735"/>
            <a:ext cx="8367434" cy="1041716"/>
          </a:xfrm>
        </p:spPr>
        <p:txBody>
          <a:bodyPr anchor="b">
            <a:normAutofit/>
          </a:bodyPr>
          <a:lstStyle/>
          <a:p>
            <a:r>
              <a:rPr lang="en-US" sz="3600">
                <a:latin typeface="Aptos"/>
              </a:rPr>
              <a:t>Prompt-perturbation experiments</a:t>
            </a:r>
            <a:br>
              <a:rPr lang="en-US" sz="3600">
                <a:latin typeface="Aptos"/>
              </a:rPr>
            </a:br>
            <a:r>
              <a:rPr lang="en-US" sz="2400">
                <a:latin typeface="Aptos"/>
              </a:rPr>
              <a:t>Lets ask the same question in different ways</a:t>
            </a:r>
            <a:endParaRPr lang="en-US" sz="3100"/>
          </a:p>
        </p:txBody>
      </p:sp>
      <p:pic>
        <p:nvPicPr>
          <p:cNvPr id="8" name="Content Placeholder 7" descr="A screenshot of a movie&#10;&#10;AI-generated content may be incorrect.">
            <a:extLst>
              <a:ext uri="{FF2B5EF4-FFF2-40B4-BE49-F238E27FC236}">
                <a16:creationId xmlns:a16="http://schemas.microsoft.com/office/drawing/2014/main" id="{57E5E910-3006-00BB-08F8-57DA9B7B1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5253" y="1609444"/>
            <a:ext cx="8585148" cy="336349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3FEF4CC-1A00-B8F8-B015-742FD17A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293D97-4A42-DF69-C7A5-75CFF1A64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12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DB23E-F172-7ABE-AEF0-BEA9341B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9389CE3-F708-F821-FD52-DF66CA9DD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65A4E-E717-0D9A-5535-22201BD4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20" y="897228"/>
            <a:ext cx="4010082" cy="2114955"/>
          </a:xfrm>
        </p:spPr>
        <p:txBody>
          <a:bodyPr anchor="b">
            <a:normAutofit/>
          </a:bodyPr>
          <a:lstStyle/>
          <a:p>
            <a:r>
              <a:rPr lang="en-US" sz="2800">
                <a:latin typeface="Aptos"/>
              </a:rPr>
              <a:t>Activation extraction &amp; saliency maps</a:t>
            </a:r>
            <a:br>
              <a:rPr lang="en-US" sz="2800">
                <a:latin typeface="Aptos"/>
              </a:rPr>
            </a:br>
            <a:br>
              <a:rPr lang="en-US" sz="3600">
                <a:latin typeface="Aptos"/>
              </a:rPr>
            </a:br>
            <a:r>
              <a:rPr lang="en-US" sz="2000">
                <a:latin typeface="Aptos"/>
              </a:rPr>
              <a:t>Where is the model most sensitive to our inputs?</a:t>
            </a:r>
            <a:endParaRPr lang="en-US" sz="2400">
              <a:latin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815C22-845C-D650-A2B3-F401AFFEA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94E6A4-236C-E089-06E3-09A73109B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117E78E-0C5E-1D32-59EF-66E69F23E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434" y="3567850"/>
            <a:ext cx="6299782" cy="2823962"/>
          </a:xfrm>
          <a:prstGeom prst="rect">
            <a:avLst/>
          </a:prstGeom>
        </p:spPr>
      </p:pic>
      <p:pic>
        <p:nvPicPr>
          <p:cNvPr id="5" name="Content Placeholder 4" descr="A blue and green gradient spectrum&#10;&#10;AI-generated content may be incorrect.">
            <a:extLst>
              <a:ext uri="{FF2B5EF4-FFF2-40B4-BE49-F238E27FC236}">
                <a16:creationId xmlns:a16="http://schemas.microsoft.com/office/drawing/2014/main" id="{2D1B962A-508E-AFDD-4C68-C7EAB61D5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9268" y="469664"/>
            <a:ext cx="6541125" cy="29634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86390B-A6B9-94A7-F1A3-371F6600748B}"/>
              </a:ext>
            </a:extLst>
          </p:cNvPr>
          <p:cNvSpPr txBox="1"/>
          <p:nvPr/>
        </p:nvSpPr>
        <p:spPr>
          <a:xfrm>
            <a:off x="482958" y="4663225"/>
            <a:ext cx="441101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aseline="0">
                <a:latin typeface="Aptos"/>
              </a:rPr>
              <a:t>Identify sensitive neurons</a:t>
            </a:r>
            <a:endParaRPr lang="en-US" sz="280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63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8CAD4-C4B8-0980-5972-930992B9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A861F2C-EB0B-0171-ABAF-90EFDA97E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E84BA-9C73-5F81-63B3-95C46CF9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20" y="864"/>
            <a:ext cx="3851744" cy="897734"/>
          </a:xfrm>
        </p:spPr>
        <p:txBody>
          <a:bodyPr anchor="b">
            <a:normAutofit/>
          </a:bodyPr>
          <a:lstStyle/>
          <a:p>
            <a:r>
              <a:rPr lang="en-US" sz="2800">
                <a:latin typeface="Aptos"/>
              </a:rPr>
              <a:t>Other methods for similarity...</a:t>
            </a:r>
            <a:endParaRPr lang="en-US" sz="3600">
              <a:latin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B52C7F-B28C-7D2F-2360-8D3F5981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A83D7B-95CC-FE4D-419C-B05FA08D8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hart&#10;&#10;AI-generated content may be incorrect.">
            <a:extLst>
              <a:ext uri="{FF2B5EF4-FFF2-40B4-BE49-F238E27FC236}">
                <a16:creationId xmlns:a16="http://schemas.microsoft.com/office/drawing/2014/main" id="{52E4B940-4BC6-C0AC-BD44-B96E3264D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4074" y="2706378"/>
            <a:ext cx="7196268" cy="3045053"/>
          </a:xfrm>
          <a:prstGeom prst="rect">
            <a:avLst/>
          </a:prstGeom>
        </p:spPr>
      </p:pic>
      <p:pic>
        <p:nvPicPr>
          <p:cNvPr id="8" name="Picture 7" descr="A graph with colored dots and numbers&#10;&#10;AI-generated content may be incorrect.">
            <a:extLst>
              <a:ext uri="{FF2B5EF4-FFF2-40B4-BE49-F238E27FC236}">
                <a16:creationId xmlns:a16="http://schemas.microsoft.com/office/drawing/2014/main" id="{19440BB3-2097-D7A1-2C62-327F04E48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03" y="2559999"/>
            <a:ext cx="4106389" cy="3341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B0B349-8CB0-BB77-BE5A-82869A585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475" y="-160193"/>
            <a:ext cx="6916140" cy="27251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A3F1B4-2CC3-4889-CD9A-0CB5A3885F9C}"/>
              </a:ext>
            </a:extLst>
          </p:cNvPr>
          <p:cNvSpPr txBox="1"/>
          <p:nvPr/>
        </p:nvSpPr>
        <p:spPr>
          <a:xfrm>
            <a:off x="593766" y="1143000"/>
            <a:ext cx="3483429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500" baseline="0">
                <a:latin typeface="Aptos"/>
              </a:rPr>
              <a:t>Cosine Similarity</a:t>
            </a:r>
            <a:r>
              <a:rPr sz="2500">
                <a:latin typeface="Aptos"/>
                <a:ea typeface="Aptos"/>
                <a:cs typeface="Aptos"/>
              </a:rPr>
              <a:t>​</a:t>
            </a:r>
            <a:endParaRPr lang="en-US">
              <a:latin typeface="Aptos"/>
            </a:endParaRPr>
          </a:p>
          <a:p>
            <a:pPr marL="342900" indent="-342900">
              <a:buFont typeface="Arial"/>
              <a:buChar char="•"/>
            </a:pPr>
            <a:r>
              <a:rPr lang="en-US" sz="2500" baseline="0">
                <a:latin typeface="Aptos"/>
              </a:rPr>
              <a:t>Activation Overlap</a:t>
            </a:r>
            <a:r>
              <a:rPr sz="2500"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5992A-236D-88F4-3E88-6523772EF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5DBE2-2181-110F-45C5-74434501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13" y="-455184"/>
            <a:ext cx="7807816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Other methods for similarity...</a:t>
            </a:r>
          </a:p>
        </p:txBody>
      </p:sp>
      <p:sp>
        <p:nvSpPr>
          <p:cNvPr id="6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1D8996-C9D0-E09F-3676-F56402595EE3}"/>
              </a:ext>
            </a:extLst>
          </p:cNvPr>
          <p:cNvSpPr txBox="1"/>
          <p:nvPr/>
        </p:nvSpPr>
        <p:spPr>
          <a:xfrm>
            <a:off x="641668" y="2807208"/>
            <a:ext cx="2312832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/>
              <a:t>Fisher Information Heatmaps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2" name="Content Placeholder 11" descr="A screen shot of a chart&#10;&#10;AI-generated content may be incorrect.">
            <a:extLst>
              <a:ext uri="{FF2B5EF4-FFF2-40B4-BE49-F238E27FC236}">
                <a16:creationId xmlns:a16="http://schemas.microsoft.com/office/drawing/2014/main" id="{4B4FF7C3-D5E4-0035-AA82-D4E91B6B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9089" y="1264167"/>
            <a:ext cx="9238376" cy="484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8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BCA91B-23A6-057D-667C-28BEAE800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75388"/>
              </p:ext>
            </p:extLst>
          </p:nvPr>
        </p:nvGraphicFramePr>
        <p:xfrm>
          <a:off x="666973" y="2619906"/>
          <a:ext cx="3300274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0274">
                  <a:extLst>
                    <a:ext uri="{9D8B030D-6E8A-4147-A177-3AD203B41FA5}">
                      <a16:colId xmlns:a16="http://schemas.microsoft.com/office/drawing/2014/main" val="3385666497"/>
                    </a:ext>
                  </a:extLst>
                </a:gridCol>
              </a:tblGrid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"Recommend 5 movies similar to The Matrix"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555178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Inception (2010)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7299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Blade Runner 2049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7862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Ex Machina (2014)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5152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Snowpiercer (2013)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7226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The Truman Show (1998)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75439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720E0AC-84D1-BEA1-F4BF-AA314D5AF92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Preliminary Results </a:t>
            </a:r>
            <a:endParaRPr lang="en-US" i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FBCA0AE-FC16-0A3F-508F-E1BDE3F12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733671"/>
              </p:ext>
            </p:extLst>
          </p:nvPr>
        </p:nvGraphicFramePr>
        <p:xfrm>
          <a:off x="666973" y="4524906"/>
          <a:ext cx="3300274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0274">
                  <a:extLst>
                    <a:ext uri="{9D8B030D-6E8A-4147-A177-3AD203B41FA5}">
                      <a16:colId xmlns:a16="http://schemas.microsoft.com/office/drawing/2014/main" val="3385666497"/>
                    </a:ext>
                  </a:extLst>
                </a:gridCol>
              </a:tblGrid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"Suggest five films like The Matrix"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555178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Inception (2010)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7299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District 9 (2009)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7862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Blade Runner 2049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5152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Ghost in the Shell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7226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Ex Machina (2014)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754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395AC29-B346-0A19-CBFA-7037748CA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851921"/>
              </p:ext>
            </p:extLst>
          </p:nvPr>
        </p:nvGraphicFramePr>
        <p:xfrm>
          <a:off x="4245384" y="2619906"/>
          <a:ext cx="3300274" cy="1767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0274">
                  <a:extLst>
                    <a:ext uri="{9D8B030D-6E8A-4147-A177-3AD203B41FA5}">
                      <a16:colId xmlns:a16="http://schemas.microsoft.com/office/drawing/2014/main" val="3385666497"/>
                    </a:ext>
                  </a:extLst>
                </a:gridCol>
              </a:tblGrid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"What are some movies resembling the Matrix? Top 5."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555178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Inception (2010)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7299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Blade Runner 2049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7862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Terminator Genisys (2015)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5152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Ex Machina (2014)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7226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Ghost in the Shell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7543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D50167-81D8-159D-8B17-2D1539CBC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020369"/>
              </p:ext>
            </p:extLst>
          </p:nvPr>
        </p:nvGraphicFramePr>
        <p:xfrm>
          <a:off x="4245384" y="4524905"/>
          <a:ext cx="3300274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0274">
                  <a:extLst>
                    <a:ext uri="{9D8B030D-6E8A-4147-A177-3AD203B41FA5}">
                      <a16:colId xmlns:a16="http://schemas.microsoft.com/office/drawing/2014/main" val="3385666497"/>
                    </a:ext>
                  </a:extLst>
                </a:gridCol>
              </a:tblGrid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"List 5 movies that are similar to The Matrix."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555178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Inception (2010)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7299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Blade Runner 2049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7862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Cloud Atlas (2012)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5152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Ghost in the Shell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7226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Atomic Blonde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7543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BC7C43E-E1D0-3983-11F2-4EC13CCED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612671"/>
              </p:ext>
            </p:extLst>
          </p:nvPr>
        </p:nvGraphicFramePr>
        <p:xfrm>
          <a:off x="7861148" y="2619905"/>
          <a:ext cx="3300274" cy="16230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0274">
                  <a:extLst>
                    <a:ext uri="{9D8B030D-6E8A-4147-A177-3AD203B41FA5}">
                      <a16:colId xmlns:a16="http://schemas.microsoft.com/office/drawing/2014/main" val="3385666497"/>
                    </a:ext>
                  </a:extLst>
                </a:gridCol>
              </a:tblGrid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/>
                        <a:t>"Can you recommend five films akin to The Matrix?"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555178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Inception (2010)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7299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Blade Runner 2049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7862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Ex Machina (2014)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5152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Snowpiercer (2013)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7226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Neon Genesis Evangelion (anime series)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754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B934447-5687-7D37-9E1F-CC1F167E7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055999"/>
              </p:ext>
            </p:extLst>
          </p:nvPr>
        </p:nvGraphicFramePr>
        <p:xfrm>
          <a:off x="7861148" y="4524905"/>
          <a:ext cx="3300274" cy="1630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0274">
                  <a:extLst>
                    <a:ext uri="{9D8B030D-6E8A-4147-A177-3AD203B41FA5}">
                      <a16:colId xmlns:a16="http://schemas.microsoft.com/office/drawing/2014/main" val="3385666497"/>
                    </a:ext>
                  </a:extLst>
                </a:gridCol>
              </a:tblGrid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"Top 5 movie suggestions similar to The Matrix"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555178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r>
                        <a:rPr lang="en-US" sz="1200"/>
                        <a:t>Inception (2010)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7299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Ghost in the Shell**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7862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Blade Runner 2049 (2017)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5152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Ex Machina** (2014)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72265"/>
                  </a:ext>
                </a:extLst>
              </a:tr>
              <a:tr h="186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Ready Player One** (2018)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4754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4AE3AC5-3AB0-87CE-9965-09AC9EEEF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9554"/>
              </p:ext>
            </p:extLst>
          </p:nvPr>
        </p:nvGraphicFramePr>
        <p:xfrm>
          <a:off x="665718" y="1548469"/>
          <a:ext cx="816864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11432611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4775647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"</a:t>
                      </a:r>
                      <a:r>
                        <a:rPr lang="en-US" err="1"/>
                        <a:t>avg_embedding_similarity</a:t>
                      </a:r>
                      <a:r>
                        <a:rPr lang="en-US"/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0.860328062375386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42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"</a:t>
                      </a:r>
                      <a:r>
                        <a:rPr lang="en-US" err="1"/>
                        <a:t>avg_ranking_correlation</a:t>
                      </a:r>
                      <a:r>
                        <a:rPr lang="en-US"/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B050"/>
                          </a:solidFill>
                        </a:rPr>
                        <a:t>-0.197889182058047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555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838E-7371-D7D3-BD16-7360C7F72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9DE32-3988-E71A-2D20-EEEDED09111E}"/>
              </a:ext>
            </a:extLst>
          </p:cNvPr>
          <p:cNvSpPr txBox="1"/>
          <p:nvPr/>
        </p:nvSpPr>
        <p:spPr>
          <a:xfrm>
            <a:off x="6096000" y="660042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0FFFF-12B7-02A4-E480-258503296DFF}"/>
              </a:ext>
            </a:extLst>
          </p:cNvPr>
          <p:cNvSpPr txBox="1"/>
          <p:nvPr/>
        </p:nvSpPr>
        <p:spPr>
          <a:xfrm>
            <a:off x="867041" y="1262218"/>
            <a:ext cx="4807817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ptos Display"/>
              </a:rPr>
              <a:t>Key Insights </a:t>
            </a:r>
            <a:endParaRPr lang="en-US"/>
          </a:p>
          <a:p>
            <a:endParaRPr lang="en-US" sz="4400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Fisher Information Matrices and Location of sensitive </a:t>
            </a:r>
            <a:r>
              <a:rPr lang="en-US" sz="2400" err="1"/>
              <a:t>nuerons</a:t>
            </a:r>
            <a:r>
              <a:rPr lang="en-US" sz="2400" dirty="0"/>
              <a:t> can provide valuable insights into how a model works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LLM responses can vary greatly with slight variations in how prompts are written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30433-4206-C99A-F79E-9444021F1C8D}"/>
              </a:ext>
            </a:extLst>
          </p:cNvPr>
          <p:cNvSpPr txBox="1"/>
          <p:nvPr/>
        </p:nvSpPr>
        <p:spPr>
          <a:xfrm>
            <a:off x="6632398" y="1261103"/>
            <a:ext cx="4643464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ptos Display"/>
              </a:rPr>
              <a:t>Next Steps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Re-evaluate and compare FIM from baseline to post-training</a:t>
            </a:r>
          </a:p>
        </p:txBody>
      </p:sp>
    </p:spTree>
    <p:extLst>
      <p:ext uri="{BB962C8B-B14F-4D97-AF65-F5344CB8AC3E}">
        <p14:creationId xmlns:p14="http://schemas.microsoft.com/office/powerpoint/2010/main" val="104049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17AA-2942-127F-62F2-BF7C3DA1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8504-52FB-7B85-328F-7ED858BEF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0380E-EFEC-A2EC-024C-39DFE57A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80936-D8B1-CA2A-C9C9-66048A7A5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" y="687992"/>
            <a:ext cx="12189852" cy="616511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200" dirty="0">
                <a:latin typeface="Aptos"/>
                <a:cs typeface="Times New Roman"/>
              </a:rPr>
              <a:t>Fan, C., Zhao, Y., &amp; Liu, S. (2024). </a:t>
            </a:r>
            <a:r>
              <a:rPr lang="en-US" sz="1200" dirty="0" err="1">
                <a:latin typeface="Aptos"/>
                <a:cs typeface="Times New Roman"/>
              </a:rPr>
              <a:t>SalUn</a:t>
            </a:r>
            <a:r>
              <a:rPr lang="en-US" sz="1200" dirty="0">
                <a:latin typeface="Aptos"/>
                <a:cs typeface="Times New Roman"/>
              </a:rPr>
              <a:t>: Gradient-Based Saliency Unlearning for Deep Neural Networks. </a:t>
            </a:r>
            <a:r>
              <a:rPr lang="en-US" sz="1200" i="1" dirty="0">
                <a:latin typeface="Aptos"/>
                <a:cs typeface="Times New Roman"/>
              </a:rPr>
              <a:t>IEEE/CVF Conference on Computer Vision and Pattern Recognition.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2"/>
              </a:rPr>
              <a:t>https://arxiv.org/abs/2403.04783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Foster, J., </a:t>
            </a:r>
            <a:r>
              <a:rPr lang="en-US" sz="1200" dirty="0" err="1">
                <a:latin typeface="Aptos"/>
                <a:cs typeface="Times New Roman"/>
              </a:rPr>
              <a:t>Sattigeri</a:t>
            </a:r>
            <a:r>
              <a:rPr lang="en-US" sz="1200" dirty="0">
                <a:latin typeface="Aptos"/>
                <a:cs typeface="Times New Roman"/>
              </a:rPr>
              <a:t>, P., &amp; Zhou, S. (2024). Selective Synaptic Dampening: Towards Efficient and Targeted Machine Unlearning. </a:t>
            </a:r>
            <a:r>
              <a:rPr lang="en-US" sz="1200" i="1" dirty="0">
                <a:latin typeface="Aptos"/>
                <a:cs typeface="Times New Roman"/>
              </a:rPr>
              <a:t>AAAI Conference on Artificial Intelligence.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3"/>
              </a:rPr>
              <a:t>https://arxiv.org/abs/2402.08728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Gandikota, R. (2023). Erasing Concepts from Diffusion Models. </a:t>
            </a:r>
            <a:r>
              <a:rPr lang="en-US" sz="1200" i="1" dirty="0">
                <a:latin typeface="Aptos"/>
                <a:cs typeface="Times New Roman"/>
              </a:rPr>
              <a:t>IEEE/CVF International Conference on Computer Vision.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4"/>
              </a:rPr>
              <a:t>https://arxiv.org/abs/2303.07345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 err="1">
                <a:latin typeface="Aptos"/>
                <a:cs typeface="Times New Roman"/>
              </a:rPr>
              <a:t>Golatkar</a:t>
            </a:r>
            <a:r>
              <a:rPr lang="en-US" sz="1200" dirty="0">
                <a:latin typeface="Aptos"/>
                <a:cs typeface="Times New Roman"/>
              </a:rPr>
              <a:t>, A., Achille, A., &amp; </a:t>
            </a:r>
            <a:r>
              <a:rPr lang="en-US" sz="1200" dirty="0" err="1">
                <a:latin typeface="Aptos"/>
                <a:cs typeface="Times New Roman"/>
              </a:rPr>
              <a:t>Soatto</a:t>
            </a:r>
            <a:r>
              <a:rPr lang="en-US" sz="1200" dirty="0">
                <a:latin typeface="Aptos"/>
                <a:cs typeface="Times New Roman"/>
              </a:rPr>
              <a:t>, S. (2020). Eternal Sunshine of the Spotless Net: Selective Forgetting in Deep Networks. </a:t>
            </a:r>
            <a:r>
              <a:rPr lang="en-US" sz="1200" i="1" dirty="0">
                <a:latin typeface="Aptos"/>
                <a:cs typeface="Times New Roman"/>
              </a:rPr>
              <a:t>IEEE/CVF Conference on Computer Vision and Pattern Recognition.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5"/>
              </a:rPr>
              <a:t>https://arxiv.org/abs/1911.04933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Hamad, M. (2025). </a:t>
            </a:r>
            <a:r>
              <a:rPr lang="en-US" sz="1200" i="1" dirty="0">
                <a:latin typeface="Aptos"/>
                <a:cs typeface="Times New Roman"/>
              </a:rPr>
              <a:t>Decoupling Popularity Bias and User Fairness in LLM-Based Recommendation Systems.</a:t>
            </a:r>
            <a:r>
              <a:rPr lang="en-US" sz="1200" dirty="0">
                <a:latin typeface="Aptos"/>
                <a:cs typeface="Times New Roman"/>
              </a:rPr>
              <a:t> Aalto University. Retrieved from </a:t>
            </a:r>
            <a:r>
              <a:rPr lang="en-US" sz="1200" u="sng" dirty="0">
                <a:latin typeface="Aptos"/>
                <a:cs typeface="Times New Roman"/>
                <a:hlinkClick r:id="rId6"/>
              </a:rPr>
              <a:t>https://aaltodoc.aalto.fi/items/68d19d5f-3e81-463a-93d8-9bdb52cfcf98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Hu, J., Zhang, D., &amp; Li, X. (2025). Relearning Attacks: Recovering Forgotten Knowledge in Machine Unlearning Models. </a:t>
            </a:r>
            <a:r>
              <a:rPr lang="en-US" sz="1200" i="1" dirty="0">
                <a:latin typeface="Aptos"/>
                <a:cs typeface="Times New Roman"/>
              </a:rPr>
              <a:t>International Conference on Learning Representations.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7"/>
              </a:rPr>
              <a:t>https://arxiv.org/abs/2503.05821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Jang, M., Kim, S., &amp; Choi, E. (2025). </a:t>
            </a:r>
            <a:r>
              <a:rPr lang="en-US" sz="1200" i="1" dirty="0">
                <a:latin typeface="Aptos"/>
                <a:cs typeface="Times New Roman"/>
              </a:rPr>
              <a:t>Negative Preference Optimization for LLM Unlearning.</a:t>
            </a:r>
            <a:r>
              <a:rPr lang="en-US" sz="1200" dirty="0">
                <a:latin typeface="Aptos"/>
                <a:cs typeface="Times New Roman"/>
              </a:rPr>
              <a:t> </a:t>
            </a:r>
            <a:r>
              <a:rPr lang="en-US" sz="1200" dirty="0" err="1">
                <a:latin typeface="Aptos"/>
                <a:cs typeface="Times New Roman"/>
              </a:rPr>
              <a:t>arXiv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8"/>
              </a:rPr>
              <a:t>https://arxiv.org/abs/2502.09317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Kim, S., Kang, H., Choi, S., Kim, D., Yang, M., &amp; Park, C. (2024). Large Language Models Meet Collaborative Filtering: An Efficient All-Round LLM-Based Recommender System. </a:t>
            </a:r>
            <a:r>
              <a:rPr lang="en-US" sz="1200" i="1" dirty="0">
                <a:latin typeface="Aptos"/>
                <a:cs typeface="Times New Roman"/>
              </a:rPr>
              <a:t>Proceedings of the 30th ACM SIGKDD Conference on Knowledge Discovery and Data Mining</a:t>
            </a:r>
            <a:r>
              <a:rPr lang="en-US" sz="1200" dirty="0">
                <a:latin typeface="Aptos"/>
                <a:cs typeface="Times New Roman"/>
              </a:rPr>
              <a:t>, (pp. 1395–1406). Retrieved from </a:t>
            </a:r>
            <a:r>
              <a:rPr lang="en-US" sz="1200" u="sng" dirty="0">
                <a:latin typeface="Aptos"/>
                <a:cs typeface="Times New Roman"/>
                <a:hlinkClick r:id="rId9"/>
              </a:rPr>
              <a:t>https://doi.org/10.1145/3637528.3671931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Ko, H., Park, J., &amp; Lee, S. (2025). Rethinking Gradient Directions for Machine Unlearning. </a:t>
            </a:r>
            <a:r>
              <a:rPr lang="en-US" sz="1200" i="1" dirty="0">
                <a:latin typeface="Aptos"/>
                <a:cs typeface="Times New Roman"/>
              </a:rPr>
              <a:t>Neural Information Processing Systems.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10"/>
              </a:rPr>
              <a:t>https://arxiv.org/abs/2501.01234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 err="1">
                <a:latin typeface="Aptos"/>
                <a:cs typeface="Times New Roman"/>
              </a:rPr>
              <a:t>Kurmanji</a:t>
            </a:r>
            <a:r>
              <a:rPr lang="en-US" sz="1200" dirty="0">
                <a:latin typeface="Aptos"/>
                <a:cs typeface="Times New Roman"/>
              </a:rPr>
              <a:t>, M., Bernstein, J., &amp; </a:t>
            </a:r>
            <a:r>
              <a:rPr lang="en-US" sz="1200" dirty="0" err="1">
                <a:latin typeface="Aptos"/>
                <a:cs typeface="Times New Roman"/>
              </a:rPr>
              <a:t>Ghalebikesabi</a:t>
            </a:r>
            <a:r>
              <a:rPr lang="en-US" sz="1200" dirty="0">
                <a:latin typeface="Aptos"/>
                <a:cs typeface="Times New Roman"/>
              </a:rPr>
              <a:t>, S. (2024). </a:t>
            </a:r>
            <a:r>
              <a:rPr lang="en-US" sz="1200" i="1" dirty="0">
                <a:latin typeface="Aptos"/>
                <a:cs typeface="Times New Roman"/>
              </a:rPr>
              <a:t>Machine Unlearning: From Data Deletion to Concept Erasure.</a:t>
            </a:r>
            <a:r>
              <a:rPr lang="en-US" sz="1200" dirty="0">
                <a:latin typeface="Aptos"/>
                <a:cs typeface="Times New Roman"/>
              </a:rPr>
              <a:t> </a:t>
            </a:r>
            <a:r>
              <a:rPr lang="en-US" sz="1200" dirty="0" err="1">
                <a:latin typeface="Aptos"/>
                <a:cs typeface="Times New Roman"/>
              </a:rPr>
              <a:t>arXiv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11"/>
              </a:rPr>
              <a:t>https://arxiv.org/abs/2408.08949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 err="1">
                <a:latin typeface="Aptos"/>
                <a:cs typeface="Times New Roman"/>
              </a:rPr>
              <a:t>Kurmanji</a:t>
            </a:r>
            <a:r>
              <a:rPr lang="en-US" sz="1200" dirty="0">
                <a:latin typeface="Aptos"/>
                <a:cs typeface="Times New Roman"/>
              </a:rPr>
              <a:t>, M., </a:t>
            </a:r>
            <a:r>
              <a:rPr lang="en-US" sz="1200" dirty="0" err="1">
                <a:latin typeface="Aptos"/>
                <a:cs typeface="Times New Roman"/>
              </a:rPr>
              <a:t>Ghalebikesabi</a:t>
            </a:r>
            <a:r>
              <a:rPr lang="en-US" sz="1200" dirty="0">
                <a:latin typeface="Aptos"/>
                <a:cs typeface="Times New Roman"/>
              </a:rPr>
              <a:t>, S., &amp; Bernstein, J. (2023). Selective Disobedience in Neural Networks: Targeted Forgetting via Gradient Reversal. </a:t>
            </a:r>
            <a:r>
              <a:rPr lang="en-US" sz="1200" i="1" dirty="0">
                <a:latin typeface="Aptos"/>
                <a:cs typeface="Times New Roman"/>
              </a:rPr>
              <a:t>Advances in Neural Information Processing Systems.</a:t>
            </a:r>
            <a:r>
              <a:rPr lang="en-US" sz="1200" dirty="0">
                <a:latin typeface="Aptos"/>
                <a:cs typeface="Times New Roman"/>
              </a:rPr>
              <a:t> Retrieved from </a:t>
            </a:r>
            <a:r>
              <a:rPr lang="en-US" sz="1200" u="sng" dirty="0">
                <a:latin typeface="Aptos"/>
                <a:cs typeface="Times New Roman"/>
                <a:hlinkClick r:id="rId12"/>
              </a:rPr>
              <a:t>https://arxiv.org/abs/2311.17082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Li, X., Zhao, C., Zhao, H., Wu, L., &amp; He, M. (2024). </a:t>
            </a:r>
            <a:r>
              <a:rPr lang="en-US" sz="1200" i="1" dirty="0" err="1">
                <a:latin typeface="Aptos"/>
                <a:cs typeface="Times New Roman"/>
              </a:rPr>
              <a:t>GanPrompt</a:t>
            </a:r>
            <a:r>
              <a:rPr lang="en-US" sz="1200" i="1" dirty="0">
                <a:latin typeface="Aptos"/>
                <a:cs typeface="Times New Roman"/>
              </a:rPr>
              <a:t>: Enhancing Robustness in LLM-Based Recommendations with GAN-Enhanced Diversity Prompts.</a:t>
            </a:r>
            <a:r>
              <a:rPr lang="en-US" sz="1200" dirty="0">
                <a:latin typeface="Aptos"/>
                <a:cs typeface="Times New Roman"/>
              </a:rPr>
              <a:t> </a:t>
            </a:r>
            <a:r>
              <a:rPr lang="en-US" sz="1200" dirty="0" err="1">
                <a:latin typeface="Aptos"/>
                <a:cs typeface="Times New Roman"/>
              </a:rPr>
              <a:t>arXiv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13"/>
              </a:rPr>
              <a:t>https://arxiv.org/abs/2408.09671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Liu, J., Yan, X., Li, D., Zhang, G., Gu, H., Zhang, P., . . . Gu, N. (2025). Improving LLM-powered Recommendations with Personalized Information. </a:t>
            </a:r>
            <a:r>
              <a:rPr lang="en-US" sz="1200" i="1" dirty="0">
                <a:latin typeface="Aptos"/>
                <a:cs typeface="Times New Roman"/>
              </a:rPr>
              <a:t>Proceedings of the 45th International ACM SIGIR Conference on Research and Development in Information Retrieval</a:t>
            </a:r>
            <a:r>
              <a:rPr lang="en-US" sz="1200" dirty="0">
                <a:latin typeface="Aptos"/>
                <a:cs typeface="Times New Roman"/>
              </a:rPr>
              <a:t>, (pp. 2560–2565). Retrieved from </a:t>
            </a:r>
            <a:r>
              <a:rPr lang="en-US" sz="1200" u="sng" dirty="0">
                <a:latin typeface="Aptos"/>
                <a:cs typeface="Times New Roman"/>
                <a:hlinkClick r:id="rId14"/>
              </a:rPr>
              <a:t>https://doi.org/10.1145/3726302.3730211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Peng, Q., Liu, H., Huang, H., Yang, Q., &amp; Shao, M. (2025). </a:t>
            </a:r>
            <a:r>
              <a:rPr lang="en-US" sz="1200" i="1" dirty="0">
                <a:latin typeface="Aptos"/>
                <a:cs typeface="Times New Roman"/>
              </a:rPr>
              <a:t>A Survey on LLM-Powered Agents for Recommender Systems.</a:t>
            </a:r>
            <a:r>
              <a:rPr lang="en-US" sz="1200" dirty="0">
                <a:latin typeface="Aptos"/>
                <a:cs typeface="Times New Roman"/>
              </a:rPr>
              <a:t> </a:t>
            </a:r>
            <a:r>
              <a:rPr lang="en-US" sz="1200" dirty="0" err="1">
                <a:latin typeface="Aptos"/>
                <a:cs typeface="Times New Roman"/>
              </a:rPr>
              <a:t>arXiv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15"/>
              </a:rPr>
              <a:t>https://arxiv.org/abs/2502.10050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Sun, C., Liang, Y., Yang, Y., Xu, S., Yang, T., &amp; Tong, Y. (2024). </a:t>
            </a:r>
            <a:r>
              <a:rPr lang="en-US" sz="1200" i="1" dirty="0">
                <a:latin typeface="Aptos"/>
                <a:cs typeface="Times New Roman"/>
              </a:rPr>
              <a:t>Direct Preference Optimization for LLM-Enhanced Recommendation Systems.</a:t>
            </a:r>
            <a:r>
              <a:rPr lang="en-US" sz="1200" dirty="0">
                <a:latin typeface="Aptos"/>
                <a:cs typeface="Times New Roman"/>
              </a:rPr>
              <a:t> </a:t>
            </a:r>
            <a:r>
              <a:rPr lang="en-US" sz="1200" dirty="0" err="1">
                <a:latin typeface="Aptos"/>
                <a:cs typeface="Times New Roman"/>
              </a:rPr>
              <a:t>arXiv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16"/>
              </a:rPr>
              <a:t>https://arxiv.org/abs/2410.05939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Wang, Z., Gao, M., Yu, J., Gao, X., Nguyen, Q., Sadiq, S., &amp; Yin, H. (2025). ID-Free Not Risk-Free: LLM-Powered Agents Unveil Risks in ID-Free Recommender Systems. </a:t>
            </a:r>
            <a:r>
              <a:rPr lang="en-US" sz="1200" i="1" dirty="0">
                <a:latin typeface="Aptos"/>
                <a:cs typeface="Times New Roman"/>
              </a:rPr>
              <a:t>Proceedings of the 45th International ACM SIGIR Conference on Research and Development in Information Retrieval</a:t>
            </a:r>
            <a:r>
              <a:rPr lang="en-US" sz="1200" dirty="0">
                <a:latin typeface="Aptos"/>
                <a:cs typeface="Times New Roman"/>
              </a:rPr>
              <a:t>, (pp. 1902–1911). Retrieved from </a:t>
            </a:r>
            <a:r>
              <a:rPr lang="en-US" sz="1200" u="sng" dirty="0">
                <a:latin typeface="Aptos"/>
                <a:cs typeface="Times New Roman"/>
                <a:hlinkClick r:id="rId17"/>
              </a:rPr>
              <a:t>https://doi.org/10.1145/3726302.3730003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Wu, L., Zheng, Z., &amp; Qiu, Z. (2024). A Survey on Large Language Models for Recommendation. </a:t>
            </a:r>
            <a:r>
              <a:rPr lang="en-US" sz="1200" i="1" dirty="0">
                <a:latin typeface="Aptos"/>
                <a:cs typeface="Times New Roman"/>
              </a:rPr>
              <a:t>World Wide Web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18"/>
              </a:rPr>
              <a:t>https://doi.org/10.1007/s11280-024-01291-2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Zhu, K., Wang, J., Zhou, J., &amp; Xie, X. (2024). </a:t>
            </a:r>
            <a:r>
              <a:rPr lang="en-US" sz="1200" dirty="0" err="1">
                <a:latin typeface="Aptos"/>
                <a:cs typeface="Times New Roman"/>
              </a:rPr>
              <a:t>PromptRobust</a:t>
            </a:r>
            <a:r>
              <a:rPr lang="en-US" sz="1200" dirty="0">
                <a:latin typeface="Aptos"/>
                <a:cs typeface="Times New Roman"/>
              </a:rPr>
              <a:t>: Towards Evaluating the Robustness of Large Language Models on Adversarial Prompts. </a:t>
            </a:r>
            <a:r>
              <a:rPr lang="en-US" sz="1200" i="1" dirty="0">
                <a:latin typeface="Aptos"/>
                <a:cs typeface="Times New Roman"/>
              </a:rPr>
              <a:t>Proceedings of the 1st ACM Workshop on Large AI Systems and Models with Privacy and Safety Analysis</a:t>
            </a:r>
            <a:r>
              <a:rPr lang="en-US" sz="1200" dirty="0">
                <a:latin typeface="Aptos"/>
                <a:cs typeface="Times New Roman"/>
              </a:rPr>
              <a:t>, (pp. 57–68). Retrieved from </a:t>
            </a:r>
            <a:r>
              <a:rPr lang="en-US" sz="1200" u="sng" dirty="0">
                <a:latin typeface="Aptos"/>
                <a:cs typeface="Times New Roman"/>
                <a:hlinkClick r:id="rId19"/>
              </a:rPr>
              <a:t>https://doi.org/10.1145/3689217.3690621</a:t>
            </a:r>
            <a:endParaRPr lang="en-US" sz="1200" dirty="0">
              <a:latin typeface="Aptos"/>
              <a:cs typeface="Times New Roman"/>
            </a:endParaRPr>
          </a:p>
          <a:p>
            <a:r>
              <a:rPr lang="en-US" sz="1200" dirty="0">
                <a:latin typeface="Aptos"/>
                <a:cs typeface="Times New Roman"/>
              </a:rPr>
              <a:t>Zhu, X., &amp; Jang, H. (2025). </a:t>
            </a:r>
            <a:r>
              <a:rPr lang="en-US" sz="1200" i="1" dirty="0">
                <a:latin typeface="Aptos"/>
                <a:cs typeface="Times New Roman"/>
              </a:rPr>
              <a:t>Representation-Based Machine Unlearning for Large Language Models.</a:t>
            </a:r>
            <a:r>
              <a:rPr lang="en-US" sz="1200" dirty="0">
                <a:latin typeface="Aptos"/>
                <a:cs typeface="Times New Roman"/>
              </a:rPr>
              <a:t> </a:t>
            </a:r>
            <a:r>
              <a:rPr lang="en-US" sz="1200" dirty="0" err="1">
                <a:latin typeface="Aptos"/>
                <a:cs typeface="Times New Roman"/>
              </a:rPr>
              <a:t>arXiv</a:t>
            </a:r>
            <a:r>
              <a:rPr lang="en-US" sz="1200" dirty="0">
                <a:latin typeface="Aptos"/>
                <a:cs typeface="Times New Roman"/>
              </a:rPr>
              <a:t>. Retrieved from </a:t>
            </a:r>
            <a:r>
              <a:rPr lang="en-US" sz="1200" u="sng" dirty="0">
                <a:latin typeface="Aptos"/>
                <a:cs typeface="Times New Roman"/>
                <a:hlinkClick r:id="rId20"/>
              </a:rPr>
              <a:t>https://arxiv.org/abs/2501.05542</a:t>
            </a:r>
            <a:endParaRPr lang="en-US" sz="1200">
              <a:latin typeface="Aptos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>
              <a:latin typeface="Aptos"/>
              <a:cs typeface="Times New Roman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76E503-A1F9-A0D9-4C94-DAFB3A97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54" y="139745"/>
            <a:ext cx="1478924" cy="43477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/>
                <a:cs typeface="Times New Roman"/>
              </a:rPr>
              <a:t>References</a:t>
            </a:r>
            <a:endParaRPr lang="en-US" sz="20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9657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Activation-Level Preference Unlearning for Robust LLM Recommenders</vt:lpstr>
      <vt:lpstr>Motivation</vt:lpstr>
      <vt:lpstr>Motivation Cont.</vt:lpstr>
      <vt:lpstr>Method Overview</vt:lpstr>
      <vt:lpstr>ARC Environment Setup / Github</vt:lpstr>
      <vt:lpstr>Prompt-perturbation experiments Lets ask the same question in different ways</vt:lpstr>
      <vt:lpstr>Activation extraction &amp; saliency maps  Where is the model most sensitive to our inputs?</vt:lpstr>
      <vt:lpstr>Other methods for similarity...</vt:lpstr>
      <vt:lpstr>Other methods for similarity...</vt:lpstr>
      <vt:lpstr>PowerPoint Presentation</vt:lpstr>
      <vt:lpstr>PowerPoint Presentation</vt:lpstr>
      <vt:lpstr>Questions?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2025-11-07T18:25:02Z</dcterms:created>
  <dcterms:modified xsi:type="dcterms:W3CDTF">2025-11-18T14:06:35Z</dcterms:modified>
</cp:coreProperties>
</file>